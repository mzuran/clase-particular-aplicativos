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sldIdLst>
    <p:sldId id="258" r:id="rId5"/>
    <p:sldId id="256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15"/>
    <p:sldId id="275" r:id="rId16"/>
    <p:sldId id="272" r:id="rId17"/>
    <p:sldId id="273" r:id="rId18"/>
    <p:sldId id="276" r:id="rId19"/>
    <p:sldId id="266" r:id="rId20"/>
    <p:sldId id="267" r:id="rId21"/>
    <p:sldId id="268" r:id="rId22"/>
    <p:sldId id="269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90190FC-B504-4E77-A7D2-09E029FAABDA}">
          <p14:sldIdLst>
            <p14:sldId id="258"/>
            <p14:sldId id="256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74"/>
            <p14:sldId id="275"/>
            <p14:sldId id="272"/>
            <p14:sldId id="273"/>
            <p14:sldId id="276"/>
            <p14:sldId id="266"/>
            <p14:sldId id="267"/>
            <p14:sldId id="268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9816CF-6F4E-8079-5420-7DAFBE4FE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>
            <a:normAutofit/>
          </a:bodyPr>
          <a:lstStyle/>
          <a:p>
            <a:r>
              <a:rPr lang="es-ES"/>
              <a:t>Introducción a frontend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227F0-2040-761E-F337-8D2B1A527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9220" y="5374888"/>
            <a:ext cx="3995955" cy="758282"/>
          </a:xfrm>
        </p:spPr>
        <p:txBody>
          <a:bodyPr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Clases Particulares de Diseño de Aplicativos.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23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3A694C2-50DA-401D-9E8A-3621EBF0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4BDA96-EAF3-AF8B-59D1-D3E81FFD2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es-ES" sz="3200"/>
              <a:t>Node, next y react</a:t>
            </a:r>
            <a:endParaRPr lang="es-AR" sz="3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BD55A9-F45A-25DA-CC67-DF701C9A6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688535"/>
            <a:ext cx="6801612" cy="536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500"/>
              <a:t>Introducción al sistema de paquetes de Node y al diseño de aplicativos de React, utilizando el framework Next</a:t>
            </a:r>
            <a:endParaRPr lang="es-AR" sz="1500"/>
          </a:p>
        </p:txBody>
      </p:sp>
      <p:pic>
        <p:nvPicPr>
          <p:cNvPr id="1026" name="Picture 2" descr="How to Create a Node.js + Next.js Project | Express Backend + Next.js &amp;  React Frontend">
            <a:extLst>
              <a:ext uri="{FF2B5EF4-FFF2-40B4-BE49-F238E27FC236}">
                <a16:creationId xmlns:a16="http://schemas.microsoft.com/office/drawing/2014/main" id="{77F72796-55E1-A20E-5DEE-2128BD96F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61505" y="640078"/>
            <a:ext cx="5868990" cy="3301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82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F7749E2-72FB-4612-B729-D5AD79064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Node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C9C16-E4C6-7EC8-E58F-40A578FEF6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Node es una plataforma que permite usar JavaScript en el </a:t>
            </a:r>
            <a:r>
              <a:rPr lang="es-ES" b="1" dirty="0"/>
              <a:t>servidor</a:t>
            </a:r>
            <a:r>
              <a:rPr lang="es-ES" dirty="0"/>
              <a:t> (no solo en el navegador). </a:t>
            </a:r>
          </a:p>
          <a:p>
            <a:r>
              <a:rPr lang="es-ES" dirty="0"/>
              <a:t>Esto significa que puedes hacer que tu sitio trabaje en ambos lados: cliente y servidor.</a:t>
            </a:r>
          </a:p>
          <a:p>
            <a:r>
              <a:rPr lang="es-ES" dirty="0"/>
              <a:t>Node permite descargar “Paquetes” de internet (Visto en las clases de backend)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2D1C1F-158C-B6B2-9259-F5485559797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Una biblioteca para construir interfaces de usuario (UI) en aplicaciones web.</a:t>
            </a:r>
          </a:p>
          <a:p>
            <a:r>
              <a:rPr lang="es-ES" dirty="0"/>
              <a:t>Permite crear </a:t>
            </a:r>
            <a:r>
              <a:rPr lang="es-ES" b="1" u="sng" dirty="0"/>
              <a:t>componentes</a:t>
            </a:r>
            <a:r>
              <a:rPr lang="es-ES" dirty="0"/>
              <a:t> interactivos que son reutilizables.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00D27DC-EB4D-17E2-9CB4-8C02F7AB7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react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923D17E-5D5B-EAE4-CDB0-F2C08079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node y qué es react?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6479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0AE23-ABC6-4A2C-1F1F-B5BD0E1A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s-ES" sz="2400"/>
              <a:t>¿Qué es next?</a:t>
            </a:r>
            <a:endParaRPr lang="es-AR" sz="24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B0FDE219-7090-8D0E-8A90-3B45B0329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BFA926-C841-2A86-002C-0018FD2D4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2"/>
            <a:ext cx="5925310" cy="3255252"/>
          </a:xfrm>
        </p:spPr>
        <p:txBody>
          <a:bodyPr>
            <a:normAutofit/>
          </a:bodyPr>
          <a:lstStyle/>
          <a:p>
            <a:r>
              <a:rPr lang="es-ES" dirty="0"/>
              <a:t>Next es un marco de trabajo </a:t>
            </a:r>
            <a:r>
              <a:rPr lang="es-ES" i="1" dirty="0"/>
              <a:t>(framework)</a:t>
            </a:r>
            <a:r>
              <a:rPr lang="es-ES" dirty="0"/>
              <a:t> que combina lo mejor de React y Node.js. </a:t>
            </a:r>
          </a:p>
          <a:p>
            <a:r>
              <a:rPr lang="es-ES" dirty="0"/>
              <a:t>Permite crear aplicaciones web rápidas y optimizadas al cargar contenido en el servidor antes de enviarlo al usuario, mejorando así el rendimiento.</a:t>
            </a:r>
          </a:p>
          <a:p>
            <a:r>
              <a:rPr lang="es-ES" dirty="0"/>
              <a:t>Para crear un</a:t>
            </a:r>
            <a:r>
              <a:rPr lang="es-ES" b="1" dirty="0"/>
              <a:t> proyecto</a:t>
            </a:r>
            <a:r>
              <a:rPr lang="es-ES" dirty="0"/>
              <a:t> utilizando el framework de next Js y react, se debe ejecutar el siguiente comando en una </a:t>
            </a:r>
            <a:r>
              <a:rPr lang="es-ES" b="1" dirty="0"/>
              <a:t>ventana cmd</a:t>
            </a:r>
            <a:r>
              <a:rPr lang="es-ES" dirty="0"/>
              <a:t>:</a:t>
            </a:r>
            <a:br>
              <a:rPr lang="es-ES" dirty="0"/>
            </a:br>
            <a:br>
              <a:rPr lang="es-ES" dirty="0"/>
            </a:br>
            <a:r>
              <a:rPr lang="es-AR" dirty="0"/>
              <a:t>npx create-next-app@latest </a:t>
            </a:r>
          </a:p>
        </p:txBody>
      </p:sp>
    </p:spTree>
    <p:extLst>
      <p:ext uri="{BB962C8B-B14F-4D97-AF65-F5344CB8AC3E}">
        <p14:creationId xmlns:p14="http://schemas.microsoft.com/office/powerpoint/2010/main" val="377714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9D59F-C66A-970B-FAF0-28E45589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51307"/>
            <a:ext cx="7729728" cy="1188720"/>
          </a:xfrm>
        </p:spPr>
        <p:txBody>
          <a:bodyPr>
            <a:normAutofit/>
          </a:bodyPr>
          <a:lstStyle/>
          <a:p>
            <a:r>
              <a:rPr lang="es-ES"/>
              <a:t>Configuración de la creación de proyecto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943798-12AA-F926-8936-A578142F5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153565"/>
            <a:ext cx="7729728" cy="1913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773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A694C2-50DA-401D-9E8A-3621EBF0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312D33-D02B-8765-FEAC-51E9E25E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>
                <a:solidFill>
                  <a:srgbClr val="262626"/>
                </a:solidFill>
              </a:rPr>
              <a:t>Directorios importantes dentro de un proyecto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0AD7EDC-1D88-01E3-90EE-6F29EF19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9" b="21572"/>
          <a:stretch/>
        </p:blipFill>
        <p:spPr>
          <a:xfrm>
            <a:off x="1694225" y="640078"/>
            <a:ext cx="8803550" cy="3301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76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A11E0FC-59D6-3195-4B94-50EDCC014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Carpeta src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92F672-7EC3-B3DC-4C09-2483CF1BC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Contiene el código principal de la aplicación</a:t>
            </a:r>
          </a:p>
          <a:p>
            <a:r>
              <a:rPr lang="es-ES" dirty="0"/>
              <a:t>Contiene dentro la carpeta </a:t>
            </a:r>
            <a:r>
              <a:rPr lang="es-ES" b="1" dirty="0"/>
              <a:t>pages</a:t>
            </a:r>
            <a:r>
              <a:rPr lang="es-ES" dirty="0"/>
              <a:t> y </a:t>
            </a:r>
            <a:r>
              <a:rPr lang="es-ES" b="1" dirty="0"/>
              <a:t>components </a:t>
            </a:r>
            <a:r>
              <a:rPr lang="es-ES" dirty="0"/>
              <a:t>(si existe)</a:t>
            </a:r>
          </a:p>
          <a:p>
            <a:r>
              <a:rPr lang="es-ES" dirty="0"/>
              <a:t>También suele tener la carpeta </a:t>
            </a:r>
            <a:r>
              <a:rPr lang="es-ES" dirty="0" err="1"/>
              <a:t>utils</a:t>
            </a:r>
            <a:endParaRPr lang="es-ES" dirty="0"/>
          </a:p>
          <a:p>
            <a:r>
              <a:rPr lang="es-ES" dirty="0"/>
              <a:t>También debe contener cualquier archivo de código adicional que cree el programador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2E80E8-A2CE-612D-BF1C-28959EC09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49"/>
            <a:ext cx="4644316" cy="3454195"/>
          </a:xfrm>
        </p:spPr>
        <p:txBody>
          <a:bodyPr>
            <a:normAutofit lnSpcReduction="10000"/>
          </a:bodyPr>
          <a:lstStyle/>
          <a:p>
            <a:r>
              <a:rPr lang="es-ES" dirty="0"/>
              <a:t>Contiene archivos estáticos que no cambian (Por ejemplo, imágenes)</a:t>
            </a:r>
          </a:p>
          <a:p>
            <a:r>
              <a:rPr lang="es-AR" dirty="0"/>
              <a:t>Estos archivos le serán accesibles al cliente en cualquier momento dentro de la aplicación</a:t>
            </a:r>
          </a:p>
          <a:p>
            <a:r>
              <a:rPr lang="es-AR" dirty="0"/>
              <a:t>Cualquier archivo aquí será el “root” de las rutas relativas del cliente</a:t>
            </a:r>
            <a:br>
              <a:rPr lang="es-AR" dirty="0"/>
            </a:br>
            <a:br>
              <a:rPr lang="es-AR" dirty="0"/>
            </a:br>
            <a:r>
              <a:rPr lang="es-AR" sz="1400" dirty="0"/>
              <a:t>Por ejemplo, para usar</a:t>
            </a:r>
            <a:br>
              <a:rPr lang="es-AR" sz="1400" dirty="0"/>
            </a:br>
            <a:r>
              <a:rPr lang="es-AR" sz="1400" dirty="0"/>
              <a:t>public/images/profile.png se tiene que escribir</a:t>
            </a:r>
            <a:br>
              <a:rPr lang="es-AR" sz="1400" i="1" dirty="0"/>
            </a:br>
            <a:r>
              <a:rPr lang="es-AR" sz="1400" b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AR" sz="1400" b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s-AR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src</a:t>
            </a:r>
            <a:r>
              <a:rPr lang="es-AR" sz="1400" b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=“images/profile.png“&gt;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61A75C-F892-06D8-7F11-B6F9AE72C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Carpeta public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2D15250-29F1-0734-B6D5-3A32C300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Directorios importantes del root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85558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2FD74-A5E9-A01C-F93B-DCDF3655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s-ES" sz="2400"/>
              <a:t>Carpeta src/pages</a:t>
            </a:r>
            <a:endParaRPr lang="es-AR" sz="2400"/>
          </a:p>
        </p:txBody>
      </p:sp>
      <p:pic>
        <p:nvPicPr>
          <p:cNvPr id="15" name="Picture 4" descr="Pila de archivos">
            <a:extLst>
              <a:ext uri="{FF2B5EF4-FFF2-40B4-BE49-F238E27FC236}">
                <a16:creationId xmlns:a16="http://schemas.microsoft.com/office/drawing/2014/main" id="{472DBA07-E556-1225-5844-DEDBBFD0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69" r="25799"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1209A31C-1CD3-91ED-1469-655CA136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496" y="2640691"/>
            <a:ext cx="5925310" cy="3740443"/>
          </a:xfrm>
        </p:spPr>
        <p:txBody>
          <a:bodyPr>
            <a:normAutofit/>
          </a:bodyPr>
          <a:lstStyle/>
          <a:p>
            <a:r>
              <a:rPr lang="es-ES" dirty="0"/>
              <a:t>Es donde se define el sistema de páginas del sitio web. </a:t>
            </a:r>
          </a:p>
          <a:p>
            <a:r>
              <a:rPr lang="es-ES" dirty="0"/>
              <a:t>Cada archivo .js dentro de pages se convierte automáticamente en una URL o ruta accesible. </a:t>
            </a:r>
          </a:p>
          <a:p>
            <a:r>
              <a:rPr lang="es-ES" dirty="0"/>
              <a:t>Se pueden organizar páginas en subcarpetas para crear rutas más complejas.</a:t>
            </a:r>
          </a:p>
          <a:p>
            <a:r>
              <a:rPr lang="es-ES" dirty="0"/>
              <a:t>Los </a:t>
            </a:r>
            <a:r>
              <a:rPr lang="es-ES" b="1" i="1" dirty="0"/>
              <a:t>componentes página</a:t>
            </a:r>
            <a:r>
              <a:rPr lang="es-ES" dirty="0"/>
              <a:t> siempre usan </a:t>
            </a:r>
            <a:r>
              <a:rPr lang="es-ES" b="1" dirty="0"/>
              <a:t>export default</a:t>
            </a:r>
            <a:r>
              <a:rPr lang="es-ES" dirty="0"/>
              <a:t> en lugar del export común.</a:t>
            </a:r>
          </a:p>
          <a:p>
            <a:r>
              <a:rPr lang="es-ES" dirty="0"/>
              <a:t>Esta estructura en pages permite gestionar las URLs de forma automática y ordenada, usando nombres de archivos y carpetas para definir direcciones sin configuración extra.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338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a vista superior de bloques de madera sobre un fondo blanco">
            <a:extLst>
              <a:ext uri="{FF2B5EF4-FFF2-40B4-BE49-F238E27FC236}">
                <a16:creationId xmlns:a16="http://schemas.microsoft.com/office/drawing/2014/main" id="{C2A032FF-76E0-6054-FA3A-D0EEFB0121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t="12056" b="36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9654D6-1A04-4732-6EE6-C12AF216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chemeClr val="tx1">
              <a:alpha val="8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</a:rPr>
              <a:t>Componentes de react</a:t>
            </a:r>
          </a:p>
        </p:txBody>
      </p:sp>
    </p:spTree>
    <p:extLst>
      <p:ext uri="{BB962C8B-B14F-4D97-AF65-F5344CB8AC3E}">
        <p14:creationId xmlns:p14="http://schemas.microsoft.com/office/powerpoint/2010/main" val="2494939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8389E-C19C-51D0-9A5B-0618B9EEC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s-ES"/>
              <a:t>¿Qué es un componente de react?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0F89FD-B628-0655-8583-377C0F7E2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380" y="2633372"/>
            <a:ext cx="4564103" cy="40230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dirty="0"/>
              <a:t>En React, los </a:t>
            </a:r>
            <a:r>
              <a:rPr lang="es-ES" b="1" dirty="0"/>
              <a:t>componentes</a:t>
            </a:r>
            <a:r>
              <a:rPr lang="es-ES" dirty="0"/>
              <a:t> son como piezas individuales de una página web que se pueden </a:t>
            </a:r>
            <a:r>
              <a:rPr lang="es-ES" i="1" dirty="0"/>
              <a:t>reutilizar</a:t>
            </a:r>
            <a:r>
              <a:rPr lang="es-ES" dirty="0"/>
              <a:t>. </a:t>
            </a:r>
          </a:p>
          <a:p>
            <a:pPr>
              <a:lnSpc>
                <a:spcPct val="90000"/>
              </a:lnSpc>
            </a:pPr>
            <a:r>
              <a:rPr lang="es-ES" dirty="0"/>
              <a:t>Cada componente representa una parte específica de la página, como un botón, una barra de navegación o una tarjeta de perfil. </a:t>
            </a:r>
          </a:p>
          <a:p>
            <a:pPr>
              <a:lnSpc>
                <a:spcPct val="90000"/>
              </a:lnSpc>
            </a:pPr>
            <a:r>
              <a:rPr lang="es-ES" dirty="0"/>
              <a:t>Internamente, los componentes están hechos de varios tags HTML normales o de otros componentes.</a:t>
            </a:r>
          </a:p>
          <a:p>
            <a:pPr>
              <a:lnSpc>
                <a:spcPct val="90000"/>
              </a:lnSpc>
            </a:pPr>
            <a:r>
              <a:rPr lang="es-ES" dirty="0"/>
              <a:t>Se puede pensar que los componentes son las “piezas de lego” que se usan para construir una página.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18BE909-7094-A77F-A68E-6A11CC96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318" y="2638044"/>
            <a:ext cx="4293403" cy="31019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1750" cap="sq">
            <a:solidFill>
              <a:srgbClr val="FFFFF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1375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A0087A1-12F9-B180-F4F1-95E8E7DA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Tags </a:t>
            </a:r>
            <a:r>
              <a:rPr lang="es-ES" dirty="0" err="1"/>
              <a:t>html</a:t>
            </a:r>
            <a:r>
              <a:rPr lang="es-ES" dirty="0"/>
              <a:t> por separado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A93419-49BC-1636-876B-65AAAF9055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Componente react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BC3443E-3A18-2CD2-9657-DA352AAB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como conjunto de tags </a:t>
            </a:r>
            <a:r>
              <a:rPr lang="es-ES" dirty="0" err="1"/>
              <a:t>html</a:t>
            </a:r>
            <a:endParaRPr lang="es-AR" dirty="0"/>
          </a:p>
        </p:txBody>
      </p:sp>
      <p:pic>
        <p:nvPicPr>
          <p:cNvPr id="1026" name="Picture 2" descr="Lego minifigure outlet pieces">
            <a:extLst>
              <a:ext uri="{FF2B5EF4-FFF2-40B4-BE49-F238E27FC236}">
                <a16:creationId xmlns:a16="http://schemas.microsoft.com/office/drawing/2014/main" id="{D18C0922-D75B-09AE-06ED-25CE5A6C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25" y="3177541"/>
            <a:ext cx="2159070" cy="323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FEF6E1D-9DC9-A27C-5FAF-FEE2BA8D4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53" b="97529" l="4396" r="91392">
                        <a14:foregroundMark x1="52930" y1="11059" x2="52930" y2="11059"/>
                        <a14:foregroundMark x1="56227" y1="9765" x2="56227" y2="9765"/>
                        <a14:foregroundMark x1="68681" y1="24824" x2="68681" y2="24824"/>
                        <a14:foregroundMark x1="49817" y1="9294" x2="49817" y2="9294"/>
                        <a14:foregroundMark x1="49817" y1="9294" x2="49817" y2="19412"/>
                        <a14:foregroundMark x1="47070" y1="7647" x2="50366" y2="4353"/>
                        <a14:foregroundMark x1="10806" y1="55059" x2="8242" y2="61529"/>
                        <a14:foregroundMark x1="4762" y1="67294" x2="4396" y2="68000"/>
                        <a14:foregroundMark x1="89194" y1="61765" x2="91941" y2="64118"/>
                        <a14:foregroundMark x1="37179" y1="88353" x2="33700" y2="94706"/>
                        <a14:foregroundMark x1="61355" y1="93529" x2="61172" y2="96118"/>
                        <a14:foregroundMark x1="33150" y1="96706" x2="39744" y2="96706"/>
                        <a14:foregroundMark x1="62821" y1="96471" x2="66850" y2="97176"/>
                        <a14:foregroundMark x1="41941" y1="96941" x2="29670" y2="97529"/>
                        <a14:foregroundMark x1="53114" y1="97529" x2="63919" y2="97294"/>
                        <a14:foregroundMark x1="44322" y1="22706" x2="53846" y2="229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26378" y="3429000"/>
            <a:ext cx="1506314" cy="23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8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CA763-453E-56C6-71E2-56DA0825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Páginas/Aplicaciones web como conjunto de componentes</a:t>
            </a:r>
            <a:endParaRPr lang="es-AR" dirty="0"/>
          </a:p>
        </p:txBody>
      </p:sp>
      <p:pic>
        <p:nvPicPr>
          <p:cNvPr id="2050" name="Picture 2" descr="Yellow Delivery Truck 60440 | City | Buy online at the Official LEGO® Shop  US">
            <a:extLst>
              <a:ext uri="{FF2B5EF4-FFF2-40B4-BE49-F238E27FC236}">
                <a16:creationId xmlns:a16="http://schemas.microsoft.com/office/drawing/2014/main" id="{78B019E4-F1E8-8C73-AFEA-82A4EE066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2" y="2356055"/>
            <a:ext cx="6048375" cy="419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312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10F48-A75E-AE54-779F-5086018C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400"/>
              <a:t>¿Cómo armo un componente de react?</a:t>
            </a:r>
          </a:p>
        </p:txBody>
      </p:sp>
      <p:pic>
        <p:nvPicPr>
          <p:cNvPr id="5" name="Picture 4" descr="Organizadores de diferentes colores">
            <a:extLst>
              <a:ext uri="{FF2B5EF4-FFF2-40B4-BE49-F238E27FC236}">
                <a16:creationId xmlns:a16="http://schemas.microsoft.com/office/drawing/2014/main" id="{557E0599-62E3-2C45-EB0A-6CB92BCC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10" r="29404" b="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B23678-B1A1-9B19-37FE-C18AE4529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5496" y="2640692"/>
            <a:ext cx="5925310" cy="32552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AR" dirty="0"/>
              <a:t>En react, los componentes no son ni más ni menos que </a:t>
            </a:r>
            <a:r>
              <a:rPr lang="es-AR" b="1" dirty="0"/>
              <a:t>funciones</a:t>
            </a:r>
            <a:r>
              <a:rPr lang="es-AR" dirty="0"/>
              <a:t> con una serie de características especiales</a:t>
            </a:r>
          </a:p>
          <a:p>
            <a:r>
              <a:rPr lang="es-AR" dirty="0"/>
              <a:t>Generalmente, vamos a tener un componente por archivo en la carpeta pages o en la carpeta components</a:t>
            </a:r>
          </a:p>
          <a:p>
            <a:r>
              <a:rPr lang="es-AR" dirty="0"/>
              <a:t>Para usar componentes en distintos archivos, se deben importar u exportar de un lugar a otro</a:t>
            </a:r>
          </a:p>
        </p:txBody>
      </p:sp>
    </p:spTree>
    <p:extLst>
      <p:ext uri="{BB962C8B-B14F-4D97-AF65-F5344CB8AC3E}">
        <p14:creationId xmlns:p14="http://schemas.microsoft.com/office/powerpoint/2010/main" val="2823513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F3371-19FE-609F-DC2E-1EF1AE65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componentes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78F7B8-DA88-02BB-2415-01AB23D53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s-ES" dirty="0"/>
              <a:t>El nombre siempre usa </a:t>
            </a:r>
            <a:r>
              <a:rPr lang="es-ES" dirty="0" err="1"/>
              <a:t>PascalCase</a:t>
            </a:r>
            <a:endParaRPr lang="es-ES" dirty="0"/>
          </a:p>
          <a:p>
            <a:pPr marL="342900" indent="-342900">
              <a:buAutoNum type="arabicParenR"/>
            </a:pPr>
            <a:r>
              <a:rPr lang="es-AR" dirty="0"/>
              <a:t>Siempre deben retornar </a:t>
            </a:r>
            <a:r>
              <a:rPr lang="es-AR" u="sng" dirty="0"/>
              <a:t>por lo menos</a:t>
            </a:r>
            <a:r>
              <a:rPr lang="es-AR" dirty="0"/>
              <a:t> un </a:t>
            </a:r>
            <a:r>
              <a:rPr lang="es-AR" b="1" dirty="0"/>
              <a:t>tag HTML vacío</a:t>
            </a:r>
            <a:r>
              <a:rPr lang="es-AR" dirty="0"/>
              <a:t> entre paréntesis</a:t>
            </a:r>
          </a:p>
          <a:p>
            <a:pPr marL="342900" indent="-342900">
              <a:buAutoNum type="arabicParenR"/>
            </a:pPr>
            <a:r>
              <a:rPr lang="es-AR" dirty="0"/>
              <a:t>Pueden recibir parámetros (llamados </a:t>
            </a:r>
            <a:r>
              <a:rPr lang="es-AR" b="1" dirty="0"/>
              <a:t>Props</a:t>
            </a:r>
            <a:r>
              <a:rPr lang="es-AR" dirty="0"/>
              <a:t>) entre los paréntesis de la función, pero agregando llaves</a:t>
            </a:r>
          </a:p>
          <a:p>
            <a:pPr marL="342900" indent="-342900">
              <a:buAutoNum type="arabicParenR"/>
            </a:pPr>
            <a:r>
              <a:rPr lang="es-AR" dirty="0"/>
              <a:t>Se deben </a:t>
            </a:r>
            <a:r>
              <a:rPr lang="es-AR" b="1" dirty="0"/>
              <a:t>exportar</a:t>
            </a:r>
            <a:r>
              <a:rPr lang="es-AR" dirty="0"/>
              <a:t>. Los componentes comunes se exportan de cualquier forma. Los componentes página se exportan con “export default”.</a:t>
            </a:r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BBFB92-BEBB-0F01-B431-28E70BF1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22" y="5248986"/>
            <a:ext cx="6134956" cy="92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2732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E6DB-D456-AB6E-F096-8F8B19F5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46D2C-E523-EBAE-B160-C6AFEA01C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Características de componentes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22AB2-B8DB-A310-2CD0-5CF2B228A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arenR" startAt="5"/>
            </a:pPr>
            <a:r>
              <a:rPr lang="es-ES" dirty="0"/>
              <a:t>Si se quiere ejecutar lógica dentro del componente, debe ir dentro de la función, pero antes del return</a:t>
            </a:r>
          </a:p>
          <a:p>
            <a:pPr marL="342900" indent="-342900">
              <a:buFont typeface="+mj-lt"/>
              <a:buAutoNum type="arabicParenR" startAt="5"/>
            </a:pPr>
            <a:r>
              <a:rPr lang="es-ES" dirty="0"/>
              <a:t>Las variables normales </a:t>
            </a:r>
            <a:r>
              <a:rPr lang="es-ES" b="1" dirty="0"/>
              <a:t>no pueden cambiar su valor</a:t>
            </a:r>
            <a:r>
              <a:rPr lang="es-ES" dirty="0"/>
              <a:t> dentro de los componentes. Se deben utilizar </a:t>
            </a:r>
            <a:r>
              <a:rPr lang="es-ES" b="1" dirty="0"/>
              <a:t>variables de estado</a:t>
            </a:r>
            <a:r>
              <a:rPr lang="es-ES" dirty="0"/>
              <a:t>.</a:t>
            </a:r>
          </a:p>
          <a:p>
            <a:pPr marL="342900" indent="-342900">
              <a:buFont typeface="+mj-lt"/>
              <a:buAutoNum type="arabicParenR" startAt="5"/>
            </a:pPr>
            <a:r>
              <a:rPr lang="es-ES" dirty="0"/>
              <a:t>Para pasarle un prop, se debe hacer de la siguiente forma: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C282F2-D288-05F6-234D-40CF83CEA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22" y="5248986"/>
            <a:ext cx="6134956" cy="92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8556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2A90A9-8AAD-04A3-979A-E62521604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Componentes comunes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9AAF86-98E6-9B39-0DFA-7A81DCB53E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Se utilizan para renderizar partes de una página </a:t>
            </a:r>
          </a:p>
          <a:p>
            <a:r>
              <a:rPr lang="es-ES" dirty="0"/>
              <a:t>Se recomienda usar “export”</a:t>
            </a:r>
          </a:p>
          <a:p>
            <a:r>
              <a:rPr lang="es-ES" dirty="0"/>
              <a:t>Se recomienda guardarlos en la carpeta src/components o una subcarpeta de ésta</a:t>
            </a:r>
          </a:p>
          <a:p>
            <a:r>
              <a:rPr lang="es-ES" dirty="0"/>
              <a:t>Se pueden usar dentro de otros componentes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9A640A-C0F5-0A2F-A34D-5726B5AF5F2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El componente mismo es la página</a:t>
            </a:r>
          </a:p>
          <a:p>
            <a:r>
              <a:rPr lang="es-ES" dirty="0"/>
              <a:t>Siempre se tiene que usar “export default”</a:t>
            </a:r>
          </a:p>
          <a:p>
            <a:r>
              <a:rPr lang="es-AR" dirty="0"/>
              <a:t>Se guardan dentro de la carpeta src/pages o una subcarpeta de ésta</a:t>
            </a:r>
          </a:p>
          <a:p>
            <a:r>
              <a:rPr lang="es-AR" dirty="0"/>
              <a:t>Se pueden usar dentro de otros componentes, aunque no se recomienda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D54C63-05CC-CDA8-1275-D01A2A868B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Componentes página</a:t>
            </a:r>
            <a:endParaRPr lang="es-A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05B0558-4C89-1D9A-C8F2-0B794042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componentes que vamos a utilizar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33539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C81F8-FD53-53FC-4D29-6E1789D8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9" y="2386744"/>
            <a:ext cx="5928358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500"/>
              <a:t>Intervalo para crear componentes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8FA11F-FB0E-1819-3111-3E3A4A2A8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8969" y="4352544"/>
            <a:ext cx="5928358" cy="123989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Nos podemos ayudar del archivo PDF para los alumnos</a:t>
            </a:r>
          </a:p>
        </p:txBody>
      </p:sp>
      <p:pic>
        <p:nvPicPr>
          <p:cNvPr id="5" name="Picture 4" descr="Organizadores de colores en estantes">
            <a:extLst>
              <a:ext uri="{FF2B5EF4-FFF2-40B4-BE49-F238E27FC236}">
                <a16:creationId xmlns:a16="http://schemas.microsoft.com/office/drawing/2014/main" id="{906CD8ED-A42E-305A-B006-83F2DE1E7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64" r="36926"/>
          <a:stretch/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95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CEA480D0-1CDA-450E-B62A-17E6A8D1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2415AF-D110-A56B-6DFA-75FF1C050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es-ES" sz="3200" dirty="0"/>
              <a:t>Hook usestate</a:t>
            </a:r>
            <a:endParaRPr lang="es-AR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6ACC45-E272-4A61-BA31-509565CA1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688535"/>
            <a:ext cx="6801612" cy="536125"/>
          </a:xfrm>
        </p:spPr>
        <p:txBody>
          <a:bodyPr>
            <a:normAutofit/>
          </a:bodyPr>
          <a:lstStyle/>
          <a:p>
            <a:r>
              <a:rPr lang="es-ES" sz="1700"/>
              <a:t>Cómo declarar variables dinámicas que cambien el estado del componente.</a:t>
            </a:r>
            <a:endParaRPr lang="es-AR" sz="1700"/>
          </a:p>
        </p:txBody>
      </p:sp>
      <p:pic>
        <p:nvPicPr>
          <p:cNvPr id="4098" name="Picture 2" descr="React Components and Props Explained! | by Sean Atukorala | Medium">
            <a:extLst>
              <a:ext uri="{FF2B5EF4-FFF2-40B4-BE49-F238E27FC236}">
                <a16:creationId xmlns:a16="http://schemas.microsoft.com/office/drawing/2014/main" id="{0E0EAA50-5E5D-73E8-AAB7-3F7FE7194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12010" y="640078"/>
            <a:ext cx="5367979" cy="3301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711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824652-2A9E-EA65-88F6-DA7DB3CA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s-ES" sz="3000" dirty="0">
                <a:solidFill>
                  <a:srgbClr val="FFFFFF"/>
                </a:solidFill>
              </a:rPr>
              <a:t>¿qué es usestate?</a:t>
            </a:r>
            <a:endParaRPr lang="es-AR" sz="3000" dirty="0">
              <a:solidFill>
                <a:srgbClr val="FFFFFF"/>
              </a:solidFill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AB9B6F1-742E-C8B8-50B4-9E80C59AF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9987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b="1" dirty="0"/>
              <a:t>useState</a:t>
            </a:r>
            <a:r>
              <a:rPr lang="es-ES" dirty="0"/>
              <a:t> es un </a:t>
            </a:r>
            <a:r>
              <a:rPr lang="es-ES" i="1" dirty="0"/>
              <a:t>hook</a:t>
            </a:r>
            <a:r>
              <a:rPr lang="es-ES" dirty="0"/>
              <a:t> de React que permite agregar estado a los componentes funcionales. </a:t>
            </a:r>
          </a:p>
          <a:p>
            <a:pPr>
              <a:lnSpc>
                <a:spcPct val="90000"/>
              </a:lnSpc>
            </a:pPr>
            <a:r>
              <a:rPr lang="es-ES" b="1" dirty="0"/>
              <a:t>useState</a:t>
            </a:r>
            <a:r>
              <a:rPr lang="es-ES" dirty="0"/>
              <a:t> sirve para crear y actualizar </a:t>
            </a:r>
            <a:r>
              <a:rPr lang="es-ES" i="1" dirty="0"/>
              <a:t>variables de estado</a:t>
            </a:r>
            <a:r>
              <a:rPr lang="es-ES" dirty="0"/>
              <a:t>. </a:t>
            </a:r>
          </a:p>
          <a:p>
            <a:pPr>
              <a:lnSpc>
                <a:spcPct val="90000"/>
              </a:lnSpc>
            </a:pPr>
            <a:r>
              <a:rPr lang="es-ES" dirty="0"/>
              <a:t>La suma de todas las </a:t>
            </a:r>
            <a:r>
              <a:rPr lang="es-ES" i="1" dirty="0"/>
              <a:t>variables de estado</a:t>
            </a:r>
            <a:r>
              <a:rPr lang="es-ES" dirty="0"/>
              <a:t> creadas con </a:t>
            </a:r>
            <a:r>
              <a:rPr lang="es-ES" b="1" dirty="0"/>
              <a:t>useState</a:t>
            </a:r>
            <a:r>
              <a:rPr lang="es-ES" dirty="0"/>
              <a:t> conforman el estado del componente.</a:t>
            </a:r>
          </a:p>
          <a:p>
            <a:pPr>
              <a:lnSpc>
                <a:spcPct val="90000"/>
              </a:lnSpc>
            </a:pPr>
            <a:r>
              <a:rPr lang="es-ES" dirty="0"/>
              <a:t>Al usar </a:t>
            </a:r>
            <a:r>
              <a:rPr lang="es-ES" b="1" dirty="0"/>
              <a:t>useState</a:t>
            </a:r>
            <a:r>
              <a:rPr lang="es-ES" dirty="0"/>
              <a:t>, se pueden almacenar y renderizar valores que de otro modo no se podrían.</a:t>
            </a:r>
          </a:p>
          <a:p>
            <a:pPr>
              <a:lnSpc>
                <a:spcPct val="90000"/>
              </a:lnSpc>
            </a:pPr>
            <a:r>
              <a:rPr lang="es-ES" dirty="0"/>
              <a:t>Un </a:t>
            </a:r>
            <a:r>
              <a:rPr lang="es-ES" i="1" dirty="0"/>
              <a:t>cambio de estado </a:t>
            </a:r>
            <a:r>
              <a:rPr lang="es-ES" dirty="0"/>
              <a:t>siempre hace que el componente se renderice de nuevo, haciendo que las variables comunes pierdan su valor.</a:t>
            </a:r>
          </a:p>
          <a:p>
            <a:pPr>
              <a:lnSpc>
                <a:spcPct val="90000"/>
              </a:lnSpc>
            </a:pPr>
            <a:r>
              <a:rPr lang="es-ES" b="1" dirty="0"/>
              <a:t>Si se quieren almacenar datos, se debe usar useState</a:t>
            </a:r>
          </a:p>
        </p:txBody>
      </p:sp>
    </p:spTree>
    <p:extLst>
      <p:ext uri="{BB962C8B-B14F-4D97-AF65-F5344CB8AC3E}">
        <p14:creationId xmlns:p14="http://schemas.microsoft.com/office/powerpoint/2010/main" val="2722719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1" descr="Gráficas financieras en una pantalla oscura">
            <a:extLst>
              <a:ext uri="{FF2B5EF4-FFF2-40B4-BE49-F238E27FC236}">
                <a16:creationId xmlns:a16="http://schemas.microsoft.com/office/drawing/2014/main" id="{9D55E1BB-9CE4-EAAD-EBBA-53DFEE50A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45EE87-8CF8-8F2E-A5AB-350503A8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chemeClr val="bg1">
              <a:alpha val="60000"/>
            </a:schemeClr>
          </a:solidFill>
          <a:ln>
            <a:solidFill>
              <a:schemeClr val="tx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Intervalo para actividad de usestate</a:t>
            </a:r>
          </a:p>
        </p:txBody>
      </p:sp>
    </p:spTree>
    <p:extLst>
      <p:ext uri="{BB962C8B-B14F-4D97-AF65-F5344CB8AC3E}">
        <p14:creationId xmlns:p14="http://schemas.microsoft.com/office/powerpoint/2010/main" val="1078818892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733208C828A0409B88C3F13BDC33A0" ma:contentTypeVersion="4" ma:contentTypeDescription="Create a new document." ma:contentTypeScope="" ma:versionID="d213e370b244847269b00bb75cf1b1d8">
  <xsd:schema xmlns:xsd="http://www.w3.org/2001/XMLSchema" xmlns:xs="http://www.w3.org/2001/XMLSchema" xmlns:p="http://schemas.microsoft.com/office/2006/metadata/properties" xmlns:ns3="0c3b2162-9bab-4fc9-97d6-f987dde52638" targetNamespace="http://schemas.microsoft.com/office/2006/metadata/properties" ma:root="true" ma:fieldsID="eede56b52e2659b18c5af9f8230c8e9c" ns3:_="">
    <xsd:import namespace="0c3b2162-9bab-4fc9-97d6-f987dde526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b2162-9bab-4fc9-97d6-f987dde526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78A033-AC94-47AE-9871-4C54C16C1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4DECCA-0F74-4BD9-9811-A6BA3F270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3b2162-9bab-4fc9-97d6-f987dde526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77F7F7-02A6-4A22-8C22-0507720D128F}">
  <ds:schemaRefs>
    <ds:schemaRef ds:uri="http://schemas.microsoft.com/office/2006/metadata/properties"/>
    <ds:schemaRef ds:uri="http://purl.org/dc/dcmitype/"/>
    <ds:schemaRef ds:uri="0c3b2162-9bab-4fc9-97d6-f987dde52638"/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291</TotalTime>
  <Words>912</Words>
  <Application>Microsoft Office PowerPoint</Application>
  <PresentationFormat>Panorámica</PresentationFormat>
  <Paragraphs>80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Consolas</vt:lpstr>
      <vt:lpstr>Gill Sans MT</vt:lpstr>
      <vt:lpstr>Paquete</vt:lpstr>
      <vt:lpstr>Introducción a frontend</vt:lpstr>
      <vt:lpstr>Node, next y react</vt:lpstr>
      <vt:lpstr>¿Qué es node y qué es react?</vt:lpstr>
      <vt:lpstr>¿Qué es next?</vt:lpstr>
      <vt:lpstr>Configuración de la creación de proyecto</vt:lpstr>
      <vt:lpstr>Directorios importantes dentro de un proyecto</vt:lpstr>
      <vt:lpstr>Directorios importantes del root</vt:lpstr>
      <vt:lpstr>Carpeta src/pages</vt:lpstr>
      <vt:lpstr>Componentes de react</vt:lpstr>
      <vt:lpstr>¿Qué es un componente de react?</vt:lpstr>
      <vt:lpstr>Componentes como conjunto de tags html</vt:lpstr>
      <vt:lpstr>Páginas/Aplicaciones web como conjunto de componentes</vt:lpstr>
      <vt:lpstr>¿Cómo armo un componente de react?</vt:lpstr>
      <vt:lpstr>Características de componentes</vt:lpstr>
      <vt:lpstr>Características de componentes</vt:lpstr>
      <vt:lpstr>Tipos de componentes que vamos a utilizar</vt:lpstr>
      <vt:lpstr>Intervalo para crear componentes</vt:lpstr>
      <vt:lpstr>Hook usestate</vt:lpstr>
      <vt:lpstr>¿qué es usestate?</vt:lpstr>
      <vt:lpstr>Intervalo para actividad de usestate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Zuran</dc:creator>
  <cp:lastModifiedBy>Matias Zuran</cp:lastModifiedBy>
  <cp:revision>2</cp:revision>
  <dcterms:created xsi:type="dcterms:W3CDTF">2024-10-27T18:18:26Z</dcterms:created>
  <dcterms:modified xsi:type="dcterms:W3CDTF">2025-12-12T23:04:48Z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0x010100C8733208C828A0409B88C3F13BDC33A0</vt:lpwstr>
  </property>
</Properties>
</file>